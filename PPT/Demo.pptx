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Squada One" charset="1" panose="02000000000000000000"/>
      <p:regular r:id="rId25"/>
    </p:embeddedFont>
    <p:embeddedFont>
      <p:font typeface="Helvetica World" charset="1" panose="020B0500040000020004"/>
      <p:regular r:id="rId26"/>
    </p:embeddedFont>
    <p:embeddedFont>
      <p:font typeface="Helvetica World Bold" charset="1" panose="020B0800040000020004"/>
      <p:regular r:id="rId27"/>
    </p:embeddedFont>
    <p:embeddedFont>
      <p:font typeface="Canva Sans" charset="1" panose="020B0503030501040103"/>
      <p:regular r:id="rId28"/>
    </p:embeddedFont>
    <p:embeddedFont>
      <p:font typeface="Canva Sans Bold" charset="1" panose="020B0803030501040103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9562" y="-76200"/>
            <a:ext cx="20878800" cy="10439400"/>
            <a:chOff x="0" y="0"/>
            <a:chExt cx="27838400" cy="139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0" y="0"/>
                  </a:moveTo>
                  <a:lnTo>
                    <a:pt x="13919200" y="0"/>
                  </a:lnTo>
                  <a:lnTo>
                    <a:pt x="13919200" y="13919200"/>
                  </a:lnTo>
                  <a:lnTo>
                    <a:pt x="0" y="139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391920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13919200" y="0"/>
                  </a:moveTo>
                  <a:lnTo>
                    <a:pt x="0" y="0"/>
                  </a:lnTo>
                  <a:lnTo>
                    <a:pt x="0" y="13919200"/>
                  </a:lnTo>
                  <a:lnTo>
                    <a:pt x="13919200" y="13919200"/>
                  </a:lnTo>
                  <a:lnTo>
                    <a:pt x="1391920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true" flipV="false" rot="-5400000">
            <a:off x="-1028700" y="8821170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9"/>
                </a:lnTo>
                <a:lnTo>
                  <a:pt x="4114800" y="3231989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5400000">
            <a:off x="15201900" y="-1758869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8"/>
                </a:lnTo>
                <a:lnTo>
                  <a:pt x="4114800" y="323198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2F2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true" rot="0">
            <a:off x="16034702" y="7982834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4973892" y="4946762"/>
                </a:moveTo>
                <a:lnTo>
                  <a:pt x="0" y="4946762"/>
                </a:lnTo>
                <a:lnTo>
                  <a:pt x="0" y="0"/>
                </a:lnTo>
                <a:lnTo>
                  <a:pt x="4973892" y="0"/>
                </a:lnTo>
                <a:lnTo>
                  <a:pt x="4973892" y="494676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2624858" y="-2625781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0" y="0"/>
                </a:moveTo>
                <a:lnTo>
                  <a:pt x="4973893" y="0"/>
                </a:lnTo>
                <a:lnTo>
                  <a:pt x="4973893" y="4946762"/>
                </a:lnTo>
                <a:lnTo>
                  <a:pt x="0" y="49467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660220" y="2454331"/>
            <a:ext cx="8455413" cy="5392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11"/>
              </a:lnSpc>
            </a:pPr>
            <a:r>
              <a:rPr lang="en-US" sz="12973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 BLOCKCHAIN </a:t>
            </a:r>
          </a:p>
          <a:p>
            <a:pPr algn="ctr">
              <a:lnSpc>
                <a:spcPts val="14011"/>
              </a:lnSpc>
            </a:pPr>
            <a:r>
              <a:rPr lang="en-US" sz="12973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SIMULATION</a:t>
            </a:r>
          </a:p>
          <a:p>
            <a:pPr algn="ctr">
              <a:lnSpc>
                <a:spcPts val="14011"/>
              </a:lnSpc>
            </a:pPr>
            <a:r>
              <a:rPr lang="en-US" sz="12973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PPT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9562" y="-76200"/>
            <a:ext cx="20878800" cy="10439400"/>
            <a:chOff x="0" y="0"/>
            <a:chExt cx="27838400" cy="139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0" y="0"/>
                  </a:moveTo>
                  <a:lnTo>
                    <a:pt x="13919200" y="0"/>
                  </a:lnTo>
                  <a:lnTo>
                    <a:pt x="13919200" y="13919200"/>
                  </a:lnTo>
                  <a:lnTo>
                    <a:pt x="0" y="139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391920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13919200" y="0"/>
                  </a:moveTo>
                  <a:lnTo>
                    <a:pt x="0" y="0"/>
                  </a:lnTo>
                  <a:lnTo>
                    <a:pt x="0" y="13919200"/>
                  </a:lnTo>
                  <a:lnTo>
                    <a:pt x="13919200" y="13919200"/>
                  </a:lnTo>
                  <a:lnTo>
                    <a:pt x="1391920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69332" y="1229226"/>
            <a:ext cx="15689179" cy="7768389"/>
            <a:chOff x="0" y="0"/>
            <a:chExt cx="4132129" cy="20459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32130" cy="2045996"/>
            </a:xfrm>
            <a:custGeom>
              <a:avLst/>
              <a:gdLst/>
              <a:ahLst/>
              <a:cxnLst/>
              <a:rect r="r" b="b" t="t" l="l"/>
              <a:pathLst>
                <a:path h="2045996" w="4132130">
                  <a:moveTo>
                    <a:pt x="0" y="0"/>
                  </a:moveTo>
                  <a:lnTo>
                    <a:pt x="4132130" y="0"/>
                  </a:lnTo>
                  <a:lnTo>
                    <a:pt x="4132130" y="2045996"/>
                  </a:lnTo>
                  <a:lnTo>
                    <a:pt x="0" y="2045996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132129" cy="2084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091077" y="1711381"/>
            <a:ext cx="4240936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50"/>
              </a:lnSpc>
            </a:pPr>
            <a:r>
              <a:rPr lang="en-US" sz="5000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Project Overview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13012" y="2858837"/>
            <a:ext cx="5421690" cy="5999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 spc="8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2299" spc="8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 create a blockchain-like structure where each block depends on the previous block. 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 spc="8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 implement a Proof-of-Work (PoW) mechanism using SHA-256 hashing and nonce searching. 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 spc="8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 show how a tampered block breaks the integrity of the chain. 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 spc="8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 validate the blockchain by recomputing hashes and checking previous-hash links. 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 spc="8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 provide a visual and interactive interface for mining, validation, tampering, and rehashing.</a:t>
            </a:r>
          </a:p>
          <a:p>
            <a:pPr algn="l">
              <a:lnSpc>
                <a:spcPts val="3219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true" flipV="true" rot="0">
            <a:off x="16034702" y="7982834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4973892" y="4946762"/>
                </a:moveTo>
                <a:lnTo>
                  <a:pt x="0" y="4946762"/>
                </a:lnTo>
                <a:lnTo>
                  <a:pt x="0" y="0"/>
                </a:lnTo>
                <a:lnTo>
                  <a:pt x="4973892" y="0"/>
                </a:lnTo>
                <a:lnTo>
                  <a:pt x="4973892" y="49467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-5400000">
            <a:off x="-1028700" y="8821170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9"/>
                </a:lnTo>
                <a:lnTo>
                  <a:pt x="4114800" y="3231989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5400000">
            <a:off x="15201900" y="-1758869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8"/>
                </a:lnTo>
                <a:lnTo>
                  <a:pt x="4114800" y="323198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2624858" y="-2625781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0" y="0"/>
                </a:moveTo>
                <a:lnTo>
                  <a:pt x="4973893" y="0"/>
                </a:lnTo>
                <a:lnTo>
                  <a:pt x="4973893" y="4946762"/>
                </a:lnTo>
                <a:lnTo>
                  <a:pt x="0" y="4946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613012" y="1711381"/>
            <a:ext cx="4240936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50"/>
              </a:lnSpc>
            </a:pPr>
            <a:r>
              <a:rPr lang="en-US" sz="5000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Goals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81237" y="2858837"/>
            <a:ext cx="7491283" cy="562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 spc="8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This</a:t>
            </a:r>
            <a:r>
              <a:rPr lang="en-US" sz="2299" spc="8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project is a simple blockchain visualizer built using Python Flask for the backend and HTML, CSS, and JavaScript for the frontend.  </a:t>
            </a:r>
          </a:p>
          <a:p>
            <a:pPr algn="l">
              <a:lnSpc>
                <a:spcPts val="3219"/>
              </a:lnSpc>
            </a:pPr>
            <a:r>
              <a:rPr lang="en-US" b="true" sz="2299" spc="85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It</a:t>
            </a:r>
            <a:r>
              <a:rPr lang="en-US" b="true" sz="2299" spc="85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demonstrates the core blockchain ideas of: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 spc="8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</a:t>
            </a:r>
            <a:r>
              <a:rPr lang="en-US" sz="2299" spc="8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lock creation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 spc="8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SHA-256 hashing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 spc="8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proof-of-work mining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 spc="8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linking blocks using previous hash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 spc="8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chain validation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 spc="8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tamper detection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 spc="8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chain reconstruction after tampering </a:t>
            </a:r>
          </a:p>
          <a:p>
            <a:pPr algn="l">
              <a:lnSpc>
                <a:spcPts val="3219"/>
              </a:lnSpc>
            </a:pPr>
            <a:r>
              <a:rPr lang="en-US" sz="2299" spc="8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project helps explain how blockchain achieves immutability and integrity in a practical way.</a:t>
            </a:r>
          </a:p>
          <a:p>
            <a:pPr algn="l">
              <a:lnSpc>
                <a:spcPts val="321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9562" y="-76200"/>
            <a:ext cx="20878800" cy="10439400"/>
            <a:chOff x="0" y="0"/>
            <a:chExt cx="27838400" cy="139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0" y="0"/>
                  </a:moveTo>
                  <a:lnTo>
                    <a:pt x="13919200" y="0"/>
                  </a:lnTo>
                  <a:lnTo>
                    <a:pt x="13919200" y="13919200"/>
                  </a:lnTo>
                  <a:lnTo>
                    <a:pt x="0" y="139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391920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13919200" y="0"/>
                  </a:moveTo>
                  <a:lnTo>
                    <a:pt x="0" y="0"/>
                  </a:lnTo>
                  <a:lnTo>
                    <a:pt x="0" y="13919200"/>
                  </a:lnTo>
                  <a:lnTo>
                    <a:pt x="13919200" y="13919200"/>
                  </a:lnTo>
                  <a:lnTo>
                    <a:pt x="1391920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439989" y="3448990"/>
            <a:ext cx="13408022" cy="493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 spc="12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</a:t>
            </a:r>
            <a:r>
              <a:rPr lang="en-US" sz="3500" spc="12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ogramming language: Python for backend logic. </a:t>
            </a:r>
          </a:p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 spc="12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Backend framework: Flask. </a:t>
            </a:r>
          </a:p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 spc="12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Cryptographic library used: Python’s hashlib for SHA-256 hashing. </a:t>
            </a:r>
          </a:p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 spc="12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Frontend technologies: HTML, CSS, JavaScript. </a:t>
            </a:r>
          </a:p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 spc="12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Communication method: Fetch API + SSE streaming for live mining progress.</a:t>
            </a:r>
          </a:p>
          <a:p>
            <a:pPr algn="just">
              <a:lnSpc>
                <a:spcPts val="490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4024011" y="1578031"/>
            <a:ext cx="10239977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400"/>
              </a:lnSpc>
            </a:pPr>
            <a:r>
              <a:rPr lang="en-US" sz="9500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Tech Stack</a:t>
            </a:r>
          </a:p>
        </p:txBody>
      </p:sp>
      <p:sp>
        <p:nvSpPr>
          <p:cNvPr name="Freeform 10" id="10"/>
          <p:cNvSpPr/>
          <p:nvPr/>
        </p:nvSpPr>
        <p:spPr>
          <a:xfrm flipH="true" flipV="true" rot="0">
            <a:off x="16034702" y="7982834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4973892" y="4946762"/>
                </a:moveTo>
                <a:lnTo>
                  <a:pt x="0" y="4946762"/>
                </a:lnTo>
                <a:lnTo>
                  <a:pt x="0" y="0"/>
                </a:lnTo>
                <a:lnTo>
                  <a:pt x="4973892" y="0"/>
                </a:lnTo>
                <a:lnTo>
                  <a:pt x="4973892" y="49467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-5400000">
            <a:off x="-1028700" y="8821170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9"/>
                </a:lnTo>
                <a:lnTo>
                  <a:pt x="4114800" y="3231989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5400000">
            <a:off x="15201900" y="-1758869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8"/>
                </a:lnTo>
                <a:lnTo>
                  <a:pt x="4114800" y="323198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2624858" y="-2625781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0" y="0"/>
                </a:moveTo>
                <a:lnTo>
                  <a:pt x="4973893" y="0"/>
                </a:lnTo>
                <a:lnTo>
                  <a:pt x="4973893" y="4946762"/>
                </a:lnTo>
                <a:lnTo>
                  <a:pt x="0" y="4946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9562" y="-76200"/>
            <a:ext cx="20878800" cy="10439400"/>
            <a:chOff x="0" y="0"/>
            <a:chExt cx="27838400" cy="139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0" y="0"/>
                  </a:moveTo>
                  <a:lnTo>
                    <a:pt x="13919200" y="0"/>
                  </a:lnTo>
                  <a:lnTo>
                    <a:pt x="13919200" y="13919200"/>
                  </a:lnTo>
                  <a:lnTo>
                    <a:pt x="0" y="139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391920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13919200" y="0"/>
                  </a:moveTo>
                  <a:lnTo>
                    <a:pt x="0" y="0"/>
                  </a:lnTo>
                  <a:lnTo>
                    <a:pt x="0" y="13919200"/>
                  </a:lnTo>
                  <a:lnTo>
                    <a:pt x="13919200" y="13919200"/>
                  </a:lnTo>
                  <a:lnTo>
                    <a:pt x="1391920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474384" y="2416806"/>
            <a:ext cx="11339233" cy="1131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280"/>
              </a:lnSpc>
              <a:spcBef>
                <a:spcPct val="0"/>
              </a:spcBef>
            </a:pPr>
            <a:r>
              <a:rPr lang="en-US" sz="9200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Libraries and their Uses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60868" y="4676359"/>
            <a:ext cx="13257526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10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Used to perform the SHA-256 cryptographic hashing required for the Proof-of-Work algorithm.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45672" y="4374734"/>
            <a:ext cx="1406725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00"/>
              </a:lnSpc>
            </a:pPr>
            <a:r>
              <a:rPr lang="en-US" sz="5500" spc="20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59077" y="6374984"/>
            <a:ext cx="1179915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00"/>
              </a:lnSpc>
            </a:pPr>
            <a:r>
              <a:rPr lang="en-US" sz="5500" spc="20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60868" y="6234014"/>
            <a:ext cx="13257526" cy="1417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  <a:r>
              <a:rPr lang="en-US" sz="2700" spc="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Used to generate exact timestamps (in UTC) for when each block is created.</a:t>
            </a:r>
          </a:p>
          <a:p>
            <a:pPr algn="l">
              <a:lnSpc>
                <a:spcPts val="3779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true" flipV="true" rot="0">
            <a:off x="16034702" y="7982834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4973892" y="4946762"/>
                </a:moveTo>
                <a:lnTo>
                  <a:pt x="0" y="4946762"/>
                </a:lnTo>
                <a:lnTo>
                  <a:pt x="0" y="0"/>
                </a:lnTo>
                <a:lnTo>
                  <a:pt x="4973892" y="0"/>
                </a:lnTo>
                <a:lnTo>
                  <a:pt x="4973892" y="49467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-5400000">
            <a:off x="-1028700" y="8821170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9"/>
                </a:lnTo>
                <a:lnTo>
                  <a:pt x="4114800" y="3231989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5400000">
            <a:off x="15201900" y="-1758869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8"/>
                </a:lnTo>
                <a:lnTo>
                  <a:pt x="4114800" y="323198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2624858" y="-2625781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0" y="0"/>
                </a:moveTo>
                <a:lnTo>
                  <a:pt x="4973893" y="0"/>
                </a:lnTo>
                <a:lnTo>
                  <a:pt x="4973893" y="4946762"/>
                </a:lnTo>
                <a:lnTo>
                  <a:pt x="0" y="4946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160868" y="4134069"/>
            <a:ext cx="16230600" cy="560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 spc="11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hashlib: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160868" y="6234014"/>
            <a:ext cx="16230600" cy="560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 spc="11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datetime: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9562" y="-76200"/>
            <a:ext cx="20878800" cy="10439400"/>
            <a:chOff x="0" y="0"/>
            <a:chExt cx="27838400" cy="139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0" y="0"/>
                  </a:moveTo>
                  <a:lnTo>
                    <a:pt x="13919200" y="0"/>
                  </a:lnTo>
                  <a:lnTo>
                    <a:pt x="13919200" y="13919200"/>
                  </a:lnTo>
                  <a:lnTo>
                    <a:pt x="0" y="139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391920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13919200" y="0"/>
                  </a:moveTo>
                  <a:lnTo>
                    <a:pt x="0" y="0"/>
                  </a:lnTo>
                  <a:lnTo>
                    <a:pt x="0" y="13919200"/>
                  </a:lnTo>
                  <a:lnTo>
                    <a:pt x="13919200" y="13919200"/>
                  </a:lnTo>
                  <a:lnTo>
                    <a:pt x="1391920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474384" y="1646650"/>
            <a:ext cx="11339233" cy="1131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280"/>
              </a:lnSpc>
              <a:spcBef>
                <a:spcPct val="0"/>
              </a:spcBef>
            </a:pPr>
            <a:r>
              <a:rPr lang="en-US" sz="9200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Other Libraries </a:t>
            </a:r>
          </a:p>
        </p:txBody>
      </p:sp>
      <p:sp>
        <p:nvSpPr>
          <p:cNvPr name="Freeform 9" id="9"/>
          <p:cNvSpPr/>
          <p:nvPr/>
        </p:nvSpPr>
        <p:spPr>
          <a:xfrm flipH="true" flipV="true" rot="0">
            <a:off x="16034702" y="7982834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4973892" y="4946762"/>
                </a:moveTo>
                <a:lnTo>
                  <a:pt x="0" y="4946762"/>
                </a:lnTo>
                <a:lnTo>
                  <a:pt x="0" y="0"/>
                </a:lnTo>
                <a:lnTo>
                  <a:pt x="4973892" y="0"/>
                </a:lnTo>
                <a:lnTo>
                  <a:pt x="4973892" y="49467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5400000">
            <a:off x="-1028700" y="8821170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9"/>
                </a:lnTo>
                <a:lnTo>
                  <a:pt x="4114800" y="3231989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5400000">
            <a:off x="15201900" y="-1758869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8"/>
                </a:lnTo>
                <a:lnTo>
                  <a:pt x="4114800" y="323198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2624858" y="-2625781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0" y="0"/>
                </a:moveTo>
                <a:lnTo>
                  <a:pt x="4973893" y="0"/>
                </a:lnTo>
                <a:lnTo>
                  <a:pt x="4973893" y="4946762"/>
                </a:lnTo>
                <a:lnTo>
                  <a:pt x="0" y="4946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182610" y="3045798"/>
            <a:ext cx="14373463" cy="5009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5398" indent="-327699" lvl="1">
              <a:lnSpc>
                <a:spcPts val="4249"/>
              </a:lnSpc>
              <a:buFont typeface="Arial"/>
              <a:buChar char="•"/>
            </a:pPr>
            <a:r>
              <a:rPr lang="en-US" b="true" sz="3035" spc="112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Flask</a:t>
            </a:r>
            <a:r>
              <a:rPr lang="en-US" sz="3035" spc="112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The core application object.</a:t>
            </a:r>
          </a:p>
          <a:p>
            <a:pPr algn="l">
              <a:lnSpc>
                <a:spcPts val="4249"/>
              </a:lnSpc>
            </a:pPr>
          </a:p>
          <a:p>
            <a:pPr algn="l" marL="655398" indent="-327699" lvl="1">
              <a:lnSpc>
                <a:spcPts val="4249"/>
              </a:lnSpc>
              <a:buFont typeface="Arial"/>
              <a:buChar char="•"/>
            </a:pPr>
            <a:r>
              <a:rPr lang="en-US" b="true" sz="3035" spc="112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request</a:t>
            </a:r>
            <a:r>
              <a:rPr lang="en-US" sz="3035" spc="112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To handle incoming data from the frontend.</a:t>
            </a:r>
          </a:p>
          <a:p>
            <a:pPr algn="l">
              <a:lnSpc>
                <a:spcPts val="4249"/>
              </a:lnSpc>
            </a:pPr>
          </a:p>
          <a:p>
            <a:pPr algn="l" marL="655398" indent="-327699" lvl="1">
              <a:lnSpc>
                <a:spcPts val="4249"/>
              </a:lnSpc>
              <a:buFont typeface="Arial"/>
              <a:buChar char="•"/>
            </a:pPr>
            <a:r>
              <a:rPr lang="en-US" b="true" sz="3035" spc="112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jsonify</a:t>
            </a:r>
            <a:r>
              <a:rPr lang="en-US" sz="3035" spc="112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To easily format Python dictionaries into JSON responses.</a:t>
            </a:r>
          </a:p>
          <a:p>
            <a:pPr algn="l">
              <a:lnSpc>
                <a:spcPts val="4249"/>
              </a:lnSpc>
            </a:pPr>
          </a:p>
          <a:p>
            <a:pPr algn="l" marL="655398" indent="-327699" lvl="1">
              <a:lnSpc>
                <a:spcPts val="4249"/>
              </a:lnSpc>
              <a:buFont typeface="Arial"/>
              <a:buChar char="•"/>
            </a:pPr>
            <a:r>
              <a:rPr lang="en-US" b="true" sz="3035" spc="112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Response</a:t>
            </a:r>
            <a:r>
              <a:rPr lang="en-US" sz="3035" spc="112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Used to manage the streaming data for the live mining updates.</a:t>
            </a:r>
          </a:p>
          <a:p>
            <a:pPr algn="l">
              <a:lnSpc>
                <a:spcPts val="4249"/>
              </a:lnSpc>
            </a:pPr>
          </a:p>
          <a:p>
            <a:pPr algn="l" marL="655398" indent="-327699" lvl="1">
              <a:lnSpc>
                <a:spcPts val="4249"/>
              </a:lnSpc>
              <a:buFont typeface="Arial"/>
              <a:buChar char="•"/>
            </a:pPr>
            <a:r>
              <a:rPr lang="en-US" b="true" sz="3035" spc="112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render_template</a:t>
            </a:r>
            <a:r>
              <a:rPr lang="en-US" sz="3035" spc="112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To serve the index.html frontend file.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9562" y="-76200"/>
            <a:ext cx="20878800" cy="10439400"/>
            <a:chOff x="0" y="0"/>
            <a:chExt cx="27838400" cy="139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0" y="0"/>
                  </a:moveTo>
                  <a:lnTo>
                    <a:pt x="13919200" y="0"/>
                  </a:lnTo>
                  <a:lnTo>
                    <a:pt x="13919200" y="13919200"/>
                  </a:lnTo>
                  <a:lnTo>
                    <a:pt x="0" y="139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391920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13919200" y="0"/>
                  </a:moveTo>
                  <a:lnTo>
                    <a:pt x="0" y="0"/>
                  </a:lnTo>
                  <a:lnTo>
                    <a:pt x="0" y="13919200"/>
                  </a:lnTo>
                  <a:lnTo>
                    <a:pt x="13919200" y="13919200"/>
                  </a:lnTo>
                  <a:lnTo>
                    <a:pt x="1391920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true" rot="0">
            <a:off x="16034702" y="7982834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4973892" y="4946762"/>
                </a:moveTo>
                <a:lnTo>
                  <a:pt x="0" y="4946762"/>
                </a:lnTo>
                <a:lnTo>
                  <a:pt x="0" y="0"/>
                </a:lnTo>
                <a:lnTo>
                  <a:pt x="4973892" y="0"/>
                </a:lnTo>
                <a:lnTo>
                  <a:pt x="4973892" y="49467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5400000">
            <a:off x="-1028700" y="8821170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9"/>
                </a:lnTo>
                <a:lnTo>
                  <a:pt x="4114800" y="3231989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5400000">
            <a:off x="15201900" y="-1758869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8"/>
                </a:lnTo>
                <a:lnTo>
                  <a:pt x="4114800" y="323198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2624858" y="-2625781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0" y="0"/>
                </a:moveTo>
                <a:lnTo>
                  <a:pt x="4973893" y="0"/>
                </a:lnTo>
                <a:lnTo>
                  <a:pt x="4973893" y="4946762"/>
                </a:lnTo>
                <a:lnTo>
                  <a:pt x="0" y="4946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73137" y="1793967"/>
            <a:ext cx="11865761" cy="7149121"/>
          </a:xfrm>
          <a:custGeom>
            <a:avLst/>
            <a:gdLst/>
            <a:ahLst/>
            <a:cxnLst/>
            <a:rect r="r" b="b" t="t" l="l"/>
            <a:pathLst>
              <a:path h="7149121" w="11865761">
                <a:moveTo>
                  <a:pt x="0" y="0"/>
                </a:moveTo>
                <a:lnTo>
                  <a:pt x="11865761" y="0"/>
                </a:lnTo>
                <a:lnTo>
                  <a:pt x="11865761" y="7149121"/>
                </a:lnTo>
                <a:lnTo>
                  <a:pt x="0" y="71491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327517" y="7640959"/>
            <a:ext cx="3845466" cy="1039845"/>
          </a:xfrm>
          <a:custGeom>
            <a:avLst/>
            <a:gdLst/>
            <a:ahLst/>
            <a:cxnLst/>
            <a:rect r="r" b="b" t="t" l="l"/>
            <a:pathLst>
              <a:path h="1039845" w="3845466">
                <a:moveTo>
                  <a:pt x="0" y="0"/>
                </a:moveTo>
                <a:lnTo>
                  <a:pt x="3845466" y="0"/>
                </a:lnTo>
                <a:lnTo>
                  <a:pt x="3845466" y="1039845"/>
                </a:lnTo>
                <a:lnTo>
                  <a:pt x="0" y="103984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502411" y="172762"/>
            <a:ext cx="7650212" cy="140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039"/>
              </a:lnSpc>
              <a:spcBef>
                <a:spcPct val="0"/>
              </a:spcBef>
            </a:pPr>
            <a:r>
              <a:rPr lang="en-US" sz="9199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Helper Functions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252" y="2313410"/>
            <a:ext cx="18105496" cy="5227962"/>
          </a:xfrm>
          <a:custGeom>
            <a:avLst/>
            <a:gdLst/>
            <a:ahLst/>
            <a:cxnLst/>
            <a:rect r="r" b="b" t="t" l="l"/>
            <a:pathLst>
              <a:path h="5227962" w="18105496">
                <a:moveTo>
                  <a:pt x="0" y="0"/>
                </a:moveTo>
                <a:lnTo>
                  <a:pt x="18105496" y="0"/>
                </a:lnTo>
                <a:lnTo>
                  <a:pt x="18105496" y="5227962"/>
                </a:lnTo>
                <a:lnTo>
                  <a:pt x="0" y="5227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9562" y="-76200"/>
            <a:ext cx="20878800" cy="10439400"/>
            <a:chOff x="0" y="0"/>
            <a:chExt cx="27838400" cy="139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0" y="0"/>
                  </a:moveTo>
                  <a:lnTo>
                    <a:pt x="13919200" y="0"/>
                  </a:lnTo>
                  <a:lnTo>
                    <a:pt x="13919200" y="13919200"/>
                  </a:lnTo>
                  <a:lnTo>
                    <a:pt x="0" y="139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391920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13919200" y="0"/>
                  </a:moveTo>
                  <a:lnTo>
                    <a:pt x="0" y="0"/>
                  </a:lnTo>
                  <a:lnTo>
                    <a:pt x="0" y="13919200"/>
                  </a:lnTo>
                  <a:lnTo>
                    <a:pt x="13919200" y="13919200"/>
                  </a:lnTo>
                  <a:lnTo>
                    <a:pt x="1391920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true" rot="0">
            <a:off x="16034702" y="7982834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4973892" y="4946762"/>
                </a:moveTo>
                <a:lnTo>
                  <a:pt x="0" y="4946762"/>
                </a:lnTo>
                <a:lnTo>
                  <a:pt x="0" y="0"/>
                </a:lnTo>
                <a:lnTo>
                  <a:pt x="4973892" y="0"/>
                </a:lnTo>
                <a:lnTo>
                  <a:pt x="4973892" y="49467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5400000">
            <a:off x="-1028700" y="8821170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9"/>
                </a:lnTo>
                <a:lnTo>
                  <a:pt x="4114800" y="3231989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5400000">
            <a:off x="15201900" y="-1758869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8"/>
                </a:lnTo>
                <a:lnTo>
                  <a:pt x="4114800" y="323198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2624858" y="-2625781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0" y="0"/>
                </a:moveTo>
                <a:lnTo>
                  <a:pt x="4973893" y="0"/>
                </a:lnTo>
                <a:lnTo>
                  <a:pt x="4973893" y="4946762"/>
                </a:lnTo>
                <a:lnTo>
                  <a:pt x="0" y="4946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816993" y="2510547"/>
            <a:ext cx="9425432" cy="6747753"/>
          </a:xfrm>
          <a:custGeom>
            <a:avLst/>
            <a:gdLst/>
            <a:ahLst/>
            <a:cxnLst/>
            <a:rect r="r" b="b" t="t" l="l"/>
            <a:pathLst>
              <a:path h="6747753" w="9425432">
                <a:moveTo>
                  <a:pt x="0" y="0"/>
                </a:moveTo>
                <a:lnTo>
                  <a:pt x="9425432" y="0"/>
                </a:lnTo>
                <a:lnTo>
                  <a:pt x="9425432" y="6747753"/>
                </a:lnTo>
                <a:lnTo>
                  <a:pt x="0" y="67477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663968" y="200025"/>
            <a:ext cx="8664405" cy="2316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924"/>
              </a:lnSpc>
              <a:spcBef>
                <a:spcPct val="0"/>
              </a:spcBef>
            </a:pPr>
            <a:r>
              <a:rPr lang="en-US" sz="9200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More Helper Functions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9562" y="-76200"/>
            <a:ext cx="20878800" cy="10439400"/>
            <a:chOff x="0" y="0"/>
            <a:chExt cx="27838400" cy="139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0" y="0"/>
                  </a:moveTo>
                  <a:lnTo>
                    <a:pt x="13919200" y="0"/>
                  </a:lnTo>
                  <a:lnTo>
                    <a:pt x="13919200" y="13919200"/>
                  </a:lnTo>
                  <a:lnTo>
                    <a:pt x="0" y="139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391920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13919200" y="0"/>
                  </a:moveTo>
                  <a:lnTo>
                    <a:pt x="0" y="0"/>
                  </a:lnTo>
                  <a:lnTo>
                    <a:pt x="0" y="13919200"/>
                  </a:lnTo>
                  <a:lnTo>
                    <a:pt x="13919200" y="13919200"/>
                  </a:lnTo>
                  <a:lnTo>
                    <a:pt x="1391920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true" rot="0">
            <a:off x="16034702" y="7982834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4973892" y="4946762"/>
                </a:moveTo>
                <a:lnTo>
                  <a:pt x="0" y="4946762"/>
                </a:lnTo>
                <a:lnTo>
                  <a:pt x="0" y="0"/>
                </a:lnTo>
                <a:lnTo>
                  <a:pt x="4973892" y="0"/>
                </a:lnTo>
                <a:lnTo>
                  <a:pt x="4973892" y="49467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5400000">
            <a:off x="-1028700" y="8821170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9"/>
                </a:lnTo>
                <a:lnTo>
                  <a:pt x="4114800" y="3231989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5400000">
            <a:off x="15201900" y="-1758869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8"/>
                </a:lnTo>
                <a:lnTo>
                  <a:pt x="4114800" y="323198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2624858" y="-2625781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0" y="0"/>
                </a:moveTo>
                <a:lnTo>
                  <a:pt x="4973893" y="0"/>
                </a:lnTo>
                <a:lnTo>
                  <a:pt x="4973893" y="4946762"/>
                </a:lnTo>
                <a:lnTo>
                  <a:pt x="0" y="4946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79878" y="1141960"/>
            <a:ext cx="9471099" cy="8003079"/>
          </a:xfrm>
          <a:custGeom>
            <a:avLst/>
            <a:gdLst/>
            <a:ahLst/>
            <a:cxnLst/>
            <a:rect r="r" b="b" t="t" l="l"/>
            <a:pathLst>
              <a:path h="8003079" w="9471099">
                <a:moveTo>
                  <a:pt x="0" y="0"/>
                </a:moveTo>
                <a:lnTo>
                  <a:pt x="9471100" y="0"/>
                </a:lnTo>
                <a:lnTo>
                  <a:pt x="9471100" y="8003080"/>
                </a:lnTo>
                <a:lnTo>
                  <a:pt x="0" y="80030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598077" y="-9525"/>
            <a:ext cx="7650212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Initialize function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075620" y="2811904"/>
            <a:ext cx="5725122" cy="422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/api/init route resets the blockchain and mines the genesis block. 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genesis block has:</a:t>
            </a:r>
          </a:p>
          <a:p>
            <a:pPr algn="l" marL="863601" indent="-287867" lvl="2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index - 0</a:t>
            </a:r>
          </a:p>
          <a:p>
            <a:pPr algn="l" marL="863601" indent="-287867" lvl="2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 - "Genesis Block"</a:t>
            </a:r>
          </a:p>
          <a:p>
            <a:pPr algn="l" marL="863601" indent="-287867" lvl="2">
              <a:lnSpc>
                <a:spcPts val="2800"/>
              </a:lnSpc>
              <a:buFont typeface="Arial"/>
              <a:buChar char="⚬"/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previous hash as a fixed zero value. 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Once mined successfully, the genesis block is appended to the chain and sent to the frontend. 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block acts as the starting point of the chain and has no previous block before it. 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1075620" y="2103811"/>
            <a:ext cx="4011811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Genesis</a:t>
            </a: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Block Initialization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9562" y="-76200"/>
            <a:ext cx="20878800" cy="10439400"/>
            <a:chOff x="0" y="0"/>
            <a:chExt cx="27838400" cy="139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0" y="0"/>
                  </a:moveTo>
                  <a:lnTo>
                    <a:pt x="13919200" y="0"/>
                  </a:lnTo>
                  <a:lnTo>
                    <a:pt x="13919200" y="13919200"/>
                  </a:lnTo>
                  <a:lnTo>
                    <a:pt x="0" y="139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391920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13919200" y="0"/>
                  </a:moveTo>
                  <a:lnTo>
                    <a:pt x="0" y="0"/>
                  </a:lnTo>
                  <a:lnTo>
                    <a:pt x="0" y="13919200"/>
                  </a:lnTo>
                  <a:lnTo>
                    <a:pt x="13919200" y="13919200"/>
                  </a:lnTo>
                  <a:lnTo>
                    <a:pt x="1391920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true" rot="0">
            <a:off x="16034702" y="7982834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4973892" y="4946762"/>
                </a:moveTo>
                <a:lnTo>
                  <a:pt x="0" y="4946762"/>
                </a:lnTo>
                <a:lnTo>
                  <a:pt x="0" y="0"/>
                </a:lnTo>
                <a:lnTo>
                  <a:pt x="4973892" y="0"/>
                </a:lnTo>
                <a:lnTo>
                  <a:pt x="4973892" y="49467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5400000">
            <a:off x="-1028700" y="8821170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9"/>
                </a:lnTo>
                <a:lnTo>
                  <a:pt x="4114800" y="3231989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5400000">
            <a:off x="15201900" y="-1758869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8"/>
                </a:lnTo>
                <a:lnTo>
                  <a:pt x="4114800" y="323198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2624858" y="-2625781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0" y="0"/>
                </a:moveTo>
                <a:lnTo>
                  <a:pt x="4973893" y="0"/>
                </a:lnTo>
                <a:lnTo>
                  <a:pt x="4973893" y="4946762"/>
                </a:lnTo>
                <a:lnTo>
                  <a:pt x="0" y="4946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349035" y="1244447"/>
            <a:ext cx="14003816" cy="7387013"/>
          </a:xfrm>
          <a:custGeom>
            <a:avLst/>
            <a:gdLst/>
            <a:ahLst/>
            <a:cxnLst/>
            <a:rect r="r" b="b" t="t" l="l"/>
            <a:pathLst>
              <a:path h="7387013" w="14003816">
                <a:moveTo>
                  <a:pt x="0" y="0"/>
                </a:moveTo>
                <a:lnTo>
                  <a:pt x="14003816" y="0"/>
                </a:lnTo>
                <a:lnTo>
                  <a:pt x="14003816" y="7387013"/>
                </a:lnTo>
                <a:lnTo>
                  <a:pt x="0" y="738701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598077" y="-9525"/>
            <a:ext cx="7650212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Initialize function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9562" y="-76200"/>
            <a:ext cx="20878800" cy="10439400"/>
            <a:chOff x="0" y="0"/>
            <a:chExt cx="27838400" cy="139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0" y="0"/>
                  </a:moveTo>
                  <a:lnTo>
                    <a:pt x="13919200" y="0"/>
                  </a:lnTo>
                  <a:lnTo>
                    <a:pt x="13919200" y="13919200"/>
                  </a:lnTo>
                  <a:lnTo>
                    <a:pt x="0" y="139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391920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13919200" y="0"/>
                  </a:moveTo>
                  <a:lnTo>
                    <a:pt x="0" y="0"/>
                  </a:lnTo>
                  <a:lnTo>
                    <a:pt x="0" y="13919200"/>
                  </a:lnTo>
                  <a:lnTo>
                    <a:pt x="13919200" y="13919200"/>
                  </a:lnTo>
                  <a:lnTo>
                    <a:pt x="1391920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true" rot="0">
            <a:off x="16034702" y="7982834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4973892" y="4946762"/>
                </a:moveTo>
                <a:lnTo>
                  <a:pt x="0" y="4946762"/>
                </a:lnTo>
                <a:lnTo>
                  <a:pt x="0" y="0"/>
                </a:lnTo>
                <a:lnTo>
                  <a:pt x="4973892" y="0"/>
                </a:lnTo>
                <a:lnTo>
                  <a:pt x="4973892" y="49467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5400000">
            <a:off x="-1028700" y="8821170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9"/>
                </a:lnTo>
                <a:lnTo>
                  <a:pt x="4114800" y="3231989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5400000">
            <a:off x="15201900" y="-1758869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8"/>
                </a:lnTo>
                <a:lnTo>
                  <a:pt x="4114800" y="323198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2624858" y="-2625781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0" y="0"/>
                </a:moveTo>
                <a:lnTo>
                  <a:pt x="4973893" y="0"/>
                </a:lnTo>
                <a:lnTo>
                  <a:pt x="4973893" y="4946762"/>
                </a:lnTo>
                <a:lnTo>
                  <a:pt x="0" y="4946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46134" y="993292"/>
            <a:ext cx="8006726" cy="8265008"/>
          </a:xfrm>
          <a:custGeom>
            <a:avLst/>
            <a:gdLst/>
            <a:ahLst/>
            <a:cxnLst/>
            <a:rect r="r" b="b" t="t" l="l"/>
            <a:pathLst>
              <a:path h="8265008" w="8006726">
                <a:moveTo>
                  <a:pt x="0" y="0"/>
                </a:moveTo>
                <a:lnTo>
                  <a:pt x="8006726" y="0"/>
                </a:lnTo>
                <a:lnTo>
                  <a:pt x="8006726" y="8265008"/>
                </a:lnTo>
                <a:lnTo>
                  <a:pt x="0" y="82650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598077" y="-9525"/>
            <a:ext cx="7650212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Add Block function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98591" y="3016250"/>
            <a:ext cx="6577308" cy="5006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/api/add_block route adds a new block containing transaction data entered by the user. 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new block stores the hash of the last block as its previousHash. 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backend mines the new block using the same PoW process until the hash condition is satisfied. 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After mining, the block is appended to the blockchain and the updated chain is returned to the UI.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0098591" y="2448743"/>
            <a:ext cx="2841188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Adding New</a:t>
            </a: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Blocks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9562" y="-76200"/>
            <a:ext cx="20878800" cy="10439400"/>
            <a:chOff x="0" y="0"/>
            <a:chExt cx="27838400" cy="139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0" y="0"/>
                  </a:moveTo>
                  <a:lnTo>
                    <a:pt x="13919200" y="0"/>
                  </a:lnTo>
                  <a:lnTo>
                    <a:pt x="13919200" y="13919200"/>
                  </a:lnTo>
                  <a:lnTo>
                    <a:pt x="0" y="139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391920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13919200" y="0"/>
                  </a:moveTo>
                  <a:lnTo>
                    <a:pt x="0" y="0"/>
                  </a:lnTo>
                  <a:lnTo>
                    <a:pt x="0" y="13919200"/>
                  </a:lnTo>
                  <a:lnTo>
                    <a:pt x="13919200" y="13919200"/>
                  </a:lnTo>
                  <a:lnTo>
                    <a:pt x="1391920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true" rot="0">
            <a:off x="16034702" y="7982834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4973892" y="4946762"/>
                </a:moveTo>
                <a:lnTo>
                  <a:pt x="0" y="4946762"/>
                </a:lnTo>
                <a:lnTo>
                  <a:pt x="0" y="0"/>
                </a:lnTo>
                <a:lnTo>
                  <a:pt x="4973892" y="0"/>
                </a:lnTo>
                <a:lnTo>
                  <a:pt x="4973892" y="49467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5400000">
            <a:off x="-1028700" y="8821170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9"/>
                </a:lnTo>
                <a:lnTo>
                  <a:pt x="4114800" y="3231989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5400000">
            <a:off x="15201900" y="-1758869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8"/>
                </a:lnTo>
                <a:lnTo>
                  <a:pt x="4114800" y="323198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2624858" y="-2625781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0" y="0"/>
                </a:moveTo>
                <a:lnTo>
                  <a:pt x="4973893" y="0"/>
                </a:lnTo>
                <a:lnTo>
                  <a:pt x="4973893" y="4946762"/>
                </a:lnTo>
                <a:lnTo>
                  <a:pt x="0" y="4946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01838" y="1109434"/>
            <a:ext cx="15535699" cy="8253340"/>
          </a:xfrm>
          <a:custGeom>
            <a:avLst/>
            <a:gdLst/>
            <a:ahLst/>
            <a:cxnLst/>
            <a:rect r="r" b="b" t="t" l="l"/>
            <a:pathLst>
              <a:path h="8253340" w="15535699">
                <a:moveTo>
                  <a:pt x="0" y="0"/>
                </a:moveTo>
                <a:lnTo>
                  <a:pt x="15535699" y="0"/>
                </a:lnTo>
                <a:lnTo>
                  <a:pt x="15535699" y="8253340"/>
                </a:lnTo>
                <a:lnTo>
                  <a:pt x="0" y="825334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598077" y="-9525"/>
            <a:ext cx="7650212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Add Block function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0037" y="-76200"/>
            <a:ext cx="20878800" cy="10439400"/>
            <a:chOff x="0" y="0"/>
            <a:chExt cx="27838400" cy="139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0" y="0"/>
                  </a:moveTo>
                  <a:lnTo>
                    <a:pt x="13919200" y="0"/>
                  </a:lnTo>
                  <a:lnTo>
                    <a:pt x="13919200" y="13919200"/>
                  </a:lnTo>
                  <a:lnTo>
                    <a:pt x="0" y="139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391920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13919200" y="0"/>
                  </a:moveTo>
                  <a:lnTo>
                    <a:pt x="0" y="0"/>
                  </a:lnTo>
                  <a:lnTo>
                    <a:pt x="0" y="13919200"/>
                  </a:lnTo>
                  <a:lnTo>
                    <a:pt x="13919200" y="13919200"/>
                  </a:lnTo>
                  <a:lnTo>
                    <a:pt x="1391920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true" rot="0">
            <a:off x="16034702" y="7982834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4973892" y="4946762"/>
                </a:moveTo>
                <a:lnTo>
                  <a:pt x="0" y="4946762"/>
                </a:lnTo>
                <a:lnTo>
                  <a:pt x="0" y="0"/>
                </a:lnTo>
                <a:lnTo>
                  <a:pt x="4973892" y="0"/>
                </a:lnTo>
                <a:lnTo>
                  <a:pt x="4973892" y="49467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5400000">
            <a:off x="-1028700" y="8821170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9"/>
                </a:lnTo>
                <a:lnTo>
                  <a:pt x="4114800" y="3231989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5400000">
            <a:off x="15201900" y="-1758869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8"/>
                </a:lnTo>
                <a:lnTo>
                  <a:pt x="4114800" y="323198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2624858" y="-2625781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0" y="0"/>
                </a:moveTo>
                <a:lnTo>
                  <a:pt x="4973893" y="0"/>
                </a:lnTo>
                <a:lnTo>
                  <a:pt x="4973893" y="4946762"/>
                </a:lnTo>
                <a:lnTo>
                  <a:pt x="0" y="4946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384884"/>
            <a:ext cx="9601242" cy="9517231"/>
          </a:xfrm>
          <a:custGeom>
            <a:avLst/>
            <a:gdLst/>
            <a:ahLst/>
            <a:cxnLst/>
            <a:rect r="r" b="b" t="t" l="l"/>
            <a:pathLst>
              <a:path h="9517231" w="9601242">
                <a:moveTo>
                  <a:pt x="0" y="0"/>
                </a:moveTo>
                <a:lnTo>
                  <a:pt x="9601242" y="0"/>
                </a:lnTo>
                <a:lnTo>
                  <a:pt x="9601242" y="9517232"/>
                </a:lnTo>
                <a:lnTo>
                  <a:pt x="0" y="95172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534478" y="4177154"/>
            <a:ext cx="4936329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Add Sample Block function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9562" y="-76200"/>
            <a:ext cx="20878800" cy="10439400"/>
            <a:chOff x="0" y="0"/>
            <a:chExt cx="27838400" cy="139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0" y="0"/>
                  </a:moveTo>
                  <a:lnTo>
                    <a:pt x="13919200" y="0"/>
                  </a:lnTo>
                  <a:lnTo>
                    <a:pt x="13919200" y="13919200"/>
                  </a:lnTo>
                  <a:lnTo>
                    <a:pt x="0" y="139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391920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13919200" y="0"/>
                  </a:moveTo>
                  <a:lnTo>
                    <a:pt x="0" y="0"/>
                  </a:lnTo>
                  <a:lnTo>
                    <a:pt x="0" y="13919200"/>
                  </a:lnTo>
                  <a:lnTo>
                    <a:pt x="13919200" y="13919200"/>
                  </a:lnTo>
                  <a:lnTo>
                    <a:pt x="1391920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true" rot="0">
            <a:off x="16034702" y="7982834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4973892" y="4946762"/>
                </a:moveTo>
                <a:lnTo>
                  <a:pt x="0" y="4946762"/>
                </a:lnTo>
                <a:lnTo>
                  <a:pt x="0" y="0"/>
                </a:lnTo>
                <a:lnTo>
                  <a:pt x="4973892" y="0"/>
                </a:lnTo>
                <a:lnTo>
                  <a:pt x="4973892" y="49467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5400000">
            <a:off x="-1028700" y="8821170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9"/>
                </a:lnTo>
                <a:lnTo>
                  <a:pt x="4114800" y="3231989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5400000">
            <a:off x="15201900" y="-1758869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8"/>
                </a:lnTo>
                <a:lnTo>
                  <a:pt x="4114800" y="323198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2624858" y="-2625781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0" y="0"/>
                </a:moveTo>
                <a:lnTo>
                  <a:pt x="4973893" y="0"/>
                </a:lnTo>
                <a:lnTo>
                  <a:pt x="4973893" y="4946762"/>
                </a:lnTo>
                <a:lnTo>
                  <a:pt x="0" y="4946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28942" y="1265243"/>
            <a:ext cx="10122693" cy="7756514"/>
          </a:xfrm>
          <a:custGeom>
            <a:avLst/>
            <a:gdLst/>
            <a:ahLst/>
            <a:cxnLst/>
            <a:rect r="r" b="b" t="t" l="l"/>
            <a:pathLst>
              <a:path h="7756514" w="10122693">
                <a:moveTo>
                  <a:pt x="0" y="0"/>
                </a:moveTo>
                <a:lnTo>
                  <a:pt x="10122693" y="0"/>
                </a:lnTo>
                <a:lnTo>
                  <a:pt x="10122693" y="7756514"/>
                </a:lnTo>
                <a:lnTo>
                  <a:pt x="0" y="77565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901219" y="4558154"/>
            <a:ext cx="4936329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Validate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78059" y="3015807"/>
            <a:ext cx="12531882" cy="4131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08"/>
              </a:lnSpc>
            </a:pPr>
            <a:r>
              <a:rPr lang="en-US" b="true" sz="6363" spc="235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TAMPER</a:t>
            </a:r>
          </a:p>
          <a:p>
            <a:pPr algn="ctr">
              <a:lnSpc>
                <a:spcPts val="8908"/>
              </a:lnSpc>
            </a:pPr>
            <a:r>
              <a:rPr lang="en-US" b="true" sz="6363" spc="235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REHASH</a:t>
            </a:r>
          </a:p>
          <a:p>
            <a:pPr algn="ctr">
              <a:lnSpc>
                <a:spcPts val="8908"/>
              </a:lnSpc>
            </a:pPr>
            <a:r>
              <a:rPr lang="en-US" b="true" sz="6363" spc="235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RESET</a:t>
            </a:r>
          </a:p>
          <a:p>
            <a:pPr algn="ctr">
              <a:lnSpc>
                <a:spcPts val="412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9562" y="-76200"/>
            <a:ext cx="20878800" cy="10439400"/>
            <a:chOff x="0" y="0"/>
            <a:chExt cx="27838400" cy="139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0" y="0"/>
                  </a:moveTo>
                  <a:lnTo>
                    <a:pt x="13919200" y="0"/>
                  </a:lnTo>
                  <a:lnTo>
                    <a:pt x="13919200" y="13919200"/>
                  </a:lnTo>
                  <a:lnTo>
                    <a:pt x="0" y="139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391920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13919200" y="0"/>
                  </a:moveTo>
                  <a:lnTo>
                    <a:pt x="0" y="0"/>
                  </a:lnTo>
                  <a:lnTo>
                    <a:pt x="0" y="13919200"/>
                  </a:lnTo>
                  <a:lnTo>
                    <a:pt x="13919200" y="13919200"/>
                  </a:lnTo>
                  <a:lnTo>
                    <a:pt x="1391920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2624858" y="-2625781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0" y="0"/>
                </a:moveTo>
                <a:lnTo>
                  <a:pt x="4973893" y="0"/>
                </a:lnTo>
                <a:lnTo>
                  <a:pt x="4973893" y="4946762"/>
                </a:lnTo>
                <a:lnTo>
                  <a:pt x="0" y="4946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582964" y="0"/>
            <a:ext cx="13705036" cy="10363200"/>
          </a:xfrm>
          <a:custGeom>
            <a:avLst/>
            <a:gdLst/>
            <a:ahLst/>
            <a:cxnLst/>
            <a:rect r="r" b="b" t="t" l="l"/>
            <a:pathLst>
              <a:path h="10363200" w="13705036">
                <a:moveTo>
                  <a:pt x="0" y="0"/>
                </a:moveTo>
                <a:lnTo>
                  <a:pt x="13705036" y="0"/>
                </a:lnTo>
                <a:lnTo>
                  <a:pt x="13705036" y="10363200"/>
                </a:lnTo>
                <a:lnTo>
                  <a:pt x="0" y="103632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486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-49759" y="3956201"/>
            <a:ext cx="4797588" cy="2374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348"/>
              </a:lnSpc>
              <a:spcBef>
                <a:spcPct val="0"/>
              </a:spcBef>
            </a:pPr>
            <a:r>
              <a:rPr lang="en-US" sz="7790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ReHash Function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9562" y="-76200"/>
            <a:ext cx="20726400" cy="10363200"/>
            <a:chOff x="0" y="0"/>
            <a:chExt cx="27635200" cy="13817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17600" cy="13817600"/>
            </a:xfrm>
            <a:custGeom>
              <a:avLst/>
              <a:gdLst/>
              <a:ahLst/>
              <a:cxnLst/>
              <a:rect r="r" b="b" t="t" l="l"/>
              <a:pathLst>
                <a:path h="13817600" w="13817600">
                  <a:moveTo>
                    <a:pt x="0" y="0"/>
                  </a:moveTo>
                  <a:lnTo>
                    <a:pt x="13817600" y="0"/>
                  </a:lnTo>
                  <a:lnTo>
                    <a:pt x="13817600" y="13817600"/>
                  </a:lnTo>
                  <a:lnTo>
                    <a:pt x="0" y="1381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3817600" y="0"/>
              <a:ext cx="13817600" cy="13817600"/>
            </a:xfrm>
            <a:custGeom>
              <a:avLst/>
              <a:gdLst/>
              <a:ahLst/>
              <a:cxnLst/>
              <a:rect r="r" b="b" t="t" l="l"/>
              <a:pathLst>
                <a:path h="13817600" w="13817600">
                  <a:moveTo>
                    <a:pt x="13817600" y="0"/>
                  </a:moveTo>
                  <a:lnTo>
                    <a:pt x="0" y="0"/>
                  </a:lnTo>
                  <a:lnTo>
                    <a:pt x="0" y="13817600"/>
                  </a:lnTo>
                  <a:lnTo>
                    <a:pt x="13817600" y="13817600"/>
                  </a:lnTo>
                  <a:lnTo>
                    <a:pt x="1381760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true" flipV="true" rot="0">
            <a:off x="16034702" y="7982834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4973892" y="4946762"/>
                </a:moveTo>
                <a:lnTo>
                  <a:pt x="0" y="4946762"/>
                </a:lnTo>
                <a:lnTo>
                  <a:pt x="0" y="0"/>
                </a:lnTo>
                <a:lnTo>
                  <a:pt x="4973892" y="0"/>
                </a:lnTo>
                <a:lnTo>
                  <a:pt x="4973892" y="49467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624858" y="-2625781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0" y="0"/>
                </a:moveTo>
                <a:lnTo>
                  <a:pt x="4973893" y="0"/>
                </a:lnTo>
                <a:lnTo>
                  <a:pt x="4973893" y="4946762"/>
                </a:lnTo>
                <a:lnTo>
                  <a:pt x="0" y="4946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2600567"/>
            <a:ext cx="16503126" cy="4572400"/>
          </a:xfrm>
          <a:custGeom>
            <a:avLst/>
            <a:gdLst/>
            <a:ahLst/>
            <a:cxnLst/>
            <a:rect r="r" b="b" t="t" l="l"/>
            <a:pathLst>
              <a:path h="4572400" w="16503126">
                <a:moveTo>
                  <a:pt x="0" y="0"/>
                </a:moveTo>
                <a:lnTo>
                  <a:pt x="16503126" y="0"/>
                </a:lnTo>
                <a:lnTo>
                  <a:pt x="16503126" y="4572400"/>
                </a:lnTo>
                <a:lnTo>
                  <a:pt x="0" y="45724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106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698443" y="1332091"/>
            <a:ext cx="7650212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Tamper Function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9562" y="-76200"/>
            <a:ext cx="20878800" cy="10439400"/>
            <a:chOff x="0" y="0"/>
            <a:chExt cx="27838400" cy="139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0" y="0"/>
                  </a:moveTo>
                  <a:lnTo>
                    <a:pt x="13919200" y="0"/>
                  </a:lnTo>
                  <a:lnTo>
                    <a:pt x="13919200" y="13919200"/>
                  </a:lnTo>
                  <a:lnTo>
                    <a:pt x="0" y="139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391920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13919200" y="0"/>
                  </a:moveTo>
                  <a:lnTo>
                    <a:pt x="0" y="0"/>
                  </a:lnTo>
                  <a:lnTo>
                    <a:pt x="0" y="13919200"/>
                  </a:lnTo>
                  <a:lnTo>
                    <a:pt x="13919200" y="13919200"/>
                  </a:lnTo>
                  <a:lnTo>
                    <a:pt x="1391920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true" flipV="true" rot="0">
            <a:off x="16034702" y="7982834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4973892" y="4946762"/>
                </a:moveTo>
                <a:lnTo>
                  <a:pt x="0" y="4946762"/>
                </a:lnTo>
                <a:lnTo>
                  <a:pt x="0" y="0"/>
                </a:lnTo>
                <a:lnTo>
                  <a:pt x="4973892" y="0"/>
                </a:lnTo>
                <a:lnTo>
                  <a:pt x="4973892" y="49467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624858" y="-2625781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0" y="0"/>
                </a:moveTo>
                <a:lnTo>
                  <a:pt x="4973893" y="0"/>
                </a:lnTo>
                <a:lnTo>
                  <a:pt x="4973893" y="4946762"/>
                </a:lnTo>
                <a:lnTo>
                  <a:pt x="0" y="4946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910817" y="3085719"/>
            <a:ext cx="15348483" cy="4132377"/>
          </a:xfrm>
          <a:custGeom>
            <a:avLst/>
            <a:gdLst/>
            <a:ahLst/>
            <a:cxnLst/>
            <a:rect r="r" b="b" t="t" l="l"/>
            <a:pathLst>
              <a:path h="4132377" w="15348483">
                <a:moveTo>
                  <a:pt x="0" y="0"/>
                </a:moveTo>
                <a:lnTo>
                  <a:pt x="15348483" y="0"/>
                </a:lnTo>
                <a:lnTo>
                  <a:pt x="15348483" y="4132377"/>
                </a:lnTo>
                <a:lnTo>
                  <a:pt x="0" y="41323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0123" r="0" b="-10123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581100" y="1732762"/>
            <a:ext cx="8612377" cy="8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54"/>
              </a:lnSpc>
              <a:spcBef>
                <a:spcPct val="0"/>
              </a:spcBef>
            </a:pPr>
            <a:r>
              <a:rPr lang="en-US" sz="5628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Reset Function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9562" y="-76200"/>
            <a:ext cx="20878800" cy="10439400"/>
            <a:chOff x="0" y="0"/>
            <a:chExt cx="27838400" cy="139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0" y="0"/>
                  </a:moveTo>
                  <a:lnTo>
                    <a:pt x="13919200" y="0"/>
                  </a:lnTo>
                  <a:lnTo>
                    <a:pt x="13919200" y="13919200"/>
                  </a:lnTo>
                  <a:lnTo>
                    <a:pt x="0" y="139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3919200" y="0"/>
              <a:ext cx="13919200" cy="13919200"/>
            </a:xfrm>
            <a:custGeom>
              <a:avLst/>
              <a:gdLst/>
              <a:ahLst/>
              <a:cxnLst/>
              <a:rect r="r" b="b" t="t" l="l"/>
              <a:pathLst>
                <a:path h="13919200" w="13919200">
                  <a:moveTo>
                    <a:pt x="13919200" y="0"/>
                  </a:moveTo>
                  <a:lnTo>
                    <a:pt x="0" y="0"/>
                  </a:lnTo>
                  <a:lnTo>
                    <a:pt x="0" y="13919200"/>
                  </a:lnTo>
                  <a:lnTo>
                    <a:pt x="13919200" y="13919200"/>
                  </a:lnTo>
                  <a:lnTo>
                    <a:pt x="13919200" y="0"/>
                  </a:lnTo>
                  <a:close/>
                </a:path>
              </a:pathLst>
            </a:custGeom>
            <a:blipFill>
              <a:blip r:embed="rId2">
                <a:alphaModFix amt="8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130428" y="3643862"/>
            <a:ext cx="12027143" cy="2694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75"/>
              </a:lnSpc>
            </a:pPr>
            <a:r>
              <a:rPr lang="en-US" sz="15697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T</a:t>
            </a:r>
            <a:r>
              <a:rPr lang="en-US" sz="15697">
                <a:solidFill>
                  <a:srgbClr val="000000"/>
                </a:solidFill>
                <a:latin typeface="Squada One"/>
                <a:ea typeface="Squada One"/>
                <a:cs typeface="Squada One"/>
                <a:sym typeface="Squada One"/>
              </a:rPr>
              <a:t>hank You</a:t>
            </a:r>
          </a:p>
        </p:txBody>
      </p:sp>
      <p:sp>
        <p:nvSpPr>
          <p:cNvPr name="Freeform 9" id="9"/>
          <p:cNvSpPr/>
          <p:nvPr/>
        </p:nvSpPr>
        <p:spPr>
          <a:xfrm flipH="true" flipV="true" rot="0">
            <a:off x="16034702" y="7982834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4973892" y="4946762"/>
                </a:moveTo>
                <a:lnTo>
                  <a:pt x="0" y="4946762"/>
                </a:lnTo>
                <a:lnTo>
                  <a:pt x="0" y="0"/>
                </a:lnTo>
                <a:lnTo>
                  <a:pt x="4973892" y="0"/>
                </a:lnTo>
                <a:lnTo>
                  <a:pt x="4973892" y="494676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5400000">
            <a:off x="-1028700" y="6613606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8"/>
                </a:lnTo>
                <a:lnTo>
                  <a:pt x="4114800" y="323198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5400000">
            <a:off x="15201900" y="441406"/>
            <a:ext cx="4114800" cy="3231988"/>
          </a:xfrm>
          <a:custGeom>
            <a:avLst/>
            <a:gdLst/>
            <a:ahLst/>
            <a:cxnLst/>
            <a:rect r="r" b="b" t="t" l="l"/>
            <a:pathLst>
              <a:path h="3231988" w="4114800">
                <a:moveTo>
                  <a:pt x="4114800" y="0"/>
                </a:moveTo>
                <a:lnTo>
                  <a:pt x="0" y="0"/>
                </a:lnTo>
                <a:lnTo>
                  <a:pt x="0" y="3231988"/>
                </a:lnTo>
                <a:lnTo>
                  <a:pt x="4114800" y="323198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2624858" y="-2625781"/>
            <a:ext cx="4973892" cy="4946762"/>
          </a:xfrm>
          <a:custGeom>
            <a:avLst/>
            <a:gdLst/>
            <a:ahLst/>
            <a:cxnLst/>
            <a:rect r="r" b="b" t="t" l="l"/>
            <a:pathLst>
              <a:path h="4946762" w="4973892">
                <a:moveTo>
                  <a:pt x="0" y="0"/>
                </a:moveTo>
                <a:lnTo>
                  <a:pt x="4973893" y="0"/>
                </a:lnTo>
                <a:lnTo>
                  <a:pt x="4973893" y="4946762"/>
                </a:lnTo>
                <a:lnTo>
                  <a:pt x="0" y="4946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DAHGAU21wOE</dc:identifier>
  <dcterms:modified xsi:type="dcterms:W3CDTF">2011-08-01T06:04:30Z</dcterms:modified>
  <cp:revision>1</cp:revision>
  <dc:title>Black White Minimalist Geometric Group Project Presentation</dc:title>
</cp:coreProperties>
</file>